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15181F"/>
          </a:solidFill>
          <a:ln w="12700">
            <a:solidFill>
              <a:srgbClr val="9D7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8-Point Star 3"/>
          <p:cNvSpPr/>
          <p:nvPr/>
        </p:nvSpPr>
        <p:spPr>
          <a:xfrm>
            <a:off x="896112" y="1581912"/>
            <a:ext cx="493776" cy="493776"/>
          </a:xfrm>
          <a:prstGeom prst="star8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PRODUCT PITCH — Y COMBINATOR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8229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5400" b="0" i="0">
                <a:solidFill>
                  <a:srgbClr val="EAE8F2"/>
                </a:solidFill>
                <a:latin typeface="Georgia"/>
              </a:rPr>
              <a:t>LakshX</a:t>
            </a:r>
            <a:r>
              <a:rPr sz="1600" b="0" i="0">
                <a:solidFill>
                  <a:srgbClr val="8D90A6"/>
                </a:solidFill>
                <a:latin typeface="Consolas"/>
              </a:rPr>
              <a:t>  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423160"/>
            <a:ext cx="6583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0" i="0">
                <a:solidFill>
                  <a:srgbClr val="EAE8F2"/>
                </a:solidFill>
                <a:latin typeface="Georgia"/>
              </a:rPr>
              <a:t>The agentic IDE that remembers — built for one developer today, an entire engineering team tomorrow.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3099816" cy="292608"/>
          </a:xfrm>
          <a:prstGeom prst="roundRect">
            <a:avLst>
              <a:gd name="adj" fmla="val 50000"/>
            </a:avLst>
          </a:prstGeom>
          <a:solidFill>
            <a:srgbClr val="162A24"/>
          </a:solidFill>
          <a:ln w="9525">
            <a:solidFill>
              <a:srgbClr val="57D9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900">
                <a:solidFill>
                  <a:srgbClr val="57D9A3"/>
                </a:solidFill>
                <a:latin typeface="Consolas"/>
              </a:rPr>
              <a:t>PROTOTYPE — SHIPPED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3749039"/>
            <a:ext cx="5148072" cy="292608"/>
          </a:xfrm>
          <a:prstGeom prst="roundRect">
            <a:avLst>
              <a:gd name="adj" fmla="val 50000"/>
            </a:avLst>
          </a:prstGeom>
          <a:solidFill>
            <a:srgbClr val="2C2214"/>
          </a:solidFill>
          <a:ln w="9525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900">
                <a:solidFill>
                  <a:srgbClr val="FFB454"/>
                </a:solidFill>
                <a:latin typeface="Consolas"/>
              </a:rPr>
              <a:t>ENTERPRISE AGENT BRAIN — IDEATION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1908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5E70"/>
                </a:solidFill>
                <a:latin typeface="Consolas"/>
              </a:rPr>
              <a:t>lakshx.in     </a:t>
            </a:r>
            <a:r>
              <a:rPr sz="1000" b="0" i="0">
                <a:solidFill>
                  <a:srgbClr val="5B5E70"/>
                </a:solidFill>
                <a:latin typeface="Consolas"/>
              </a:rPr>
              <a:t>MIT licensed     </a:t>
            </a:r>
            <a:r>
              <a:rPr sz="1000" b="0" i="0">
                <a:solidFill>
                  <a:srgbClr val="5B5E70"/>
                </a:solidFill>
                <a:latin typeface="Consolas"/>
              </a:rPr>
              <a:t>VS Code fork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400" b="0" i="0">
                <a:solidFill>
                  <a:srgbClr val="EAE8F2"/>
                </a:solidFill>
                <a:latin typeface="Georgia"/>
              </a:rPr>
              <a:t>Every AI coding agent today is a </a:t>
            </a:r>
            <a:r>
              <a:rPr sz="3400" b="0" i="1">
                <a:solidFill>
                  <a:srgbClr val="9D7FFF"/>
                </a:solidFill>
                <a:latin typeface="Georgia"/>
              </a:rPr>
              <a:t>brilliant amnesiac.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200">
                <a:solidFill>
                  <a:srgbClr val="9D7FFF"/>
                </a:solidFill>
                <a:latin typeface="Consolas"/>
              </a:rPr>
              <a:t>SESSION-SCOPED   </a:t>
            </a:r>
            <a:r>
              <a:rPr sz="1500">
                <a:solidFill>
                  <a:srgbClr val="EAE8F2"/>
                </a:solidFill>
                <a:latin typeface="Calibri"/>
              </a:rPr>
              <a:t>Close the chat and the reasoning is gone. Tomorrow's session starts from zero, even on the same file.</a:t>
            </a:r>
          </a:p>
          <a:p>
            <a:pPr>
              <a:spcAft>
                <a:spcPts val="1400"/>
              </a:spcAft>
            </a:pPr>
            <a:r>
              <a:rPr sz="1200">
                <a:solidFill>
                  <a:srgbClr val="9D7FFF"/>
                </a:solidFill>
                <a:latin typeface="Consolas"/>
              </a:rPr>
              <a:t>MACHINE-SCOPED   </a:t>
            </a:r>
            <a:r>
              <a:rPr sz="1500">
                <a:solidFill>
                  <a:srgbClr val="EAE8F2"/>
                </a:solidFill>
                <a:latin typeface="Calibri"/>
              </a:rPr>
              <a:t>The agent only knows the one folder open on the one laptop it happens to be running on.</a:t>
            </a:r>
          </a:p>
          <a:p>
            <a:pPr>
              <a:spcAft>
                <a:spcPts val="1400"/>
              </a:spcAft>
            </a:pPr>
            <a:r>
              <a:rPr sz="1200">
                <a:solidFill>
                  <a:srgbClr val="9D7FFF"/>
                </a:solidFill>
                <a:latin typeface="Consolas"/>
              </a:rPr>
              <a:t>UNVERIFIED “DONE”   </a:t>
            </a:r>
            <a:r>
              <a:rPr sz="1500">
                <a:solidFill>
                  <a:srgbClr val="EAE8F2"/>
                </a:solidFill>
                <a:latin typeface="Calibri"/>
              </a:rPr>
              <a:t>The model tells you it finished. Nothing independently re-checks that claim against reality.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AE8F2"/>
                </a:solidFill>
                <a:latin typeface="Georgia"/>
              </a:rPr>
              <a:t>None of this is a model problem. It's an infrastructure problem.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OUR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200" b="0" i="0">
                <a:solidFill>
                  <a:srgbClr val="EAE8F2"/>
                </a:solidFill>
                <a:latin typeface="Georgia"/>
              </a:rPr>
              <a:t>The next unlock isn't a smarter model. It's </a:t>
            </a:r>
            <a:r>
              <a:rPr sz="3200" b="0" i="1">
                <a:solidFill>
                  <a:srgbClr val="9D7FFF"/>
                </a:solidFill>
                <a:latin typeface="Georgia"/>
              </a:rPr>
              <a:t>trustworthy autonomy.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3383280" cy="21945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400" b="1">
                <a:solidFill>
                  <a:srgbClr val="EAE8F2"/>
                </a:solidFill>
                <a:latin typeface="Consolas"/>
              </a:rPr>
              <a:t>Verification, not vibes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8D90A6"/>
                </a:solidFill>
                <a:latin typeface="Calibri"/>
              </a:rPr>
              <a:t>“Done” is a re-run of a real, hash-frozen spec — a process exits 0, a test actually passes — not a sentence the model generated.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2468880"/>
            <a:ext cx="3383280" cy="21945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400" b="1">
                <a:solidFill>
                  <a:srgbClr val="EAE8F2"/>
                </a:solidFill>
                <a:latin typeface="Consolas"/>
              </a:rPr>
              <a:t>Persistent memory, not sessions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8D90A6"/>
                </a:solidFill>
                <a:latin typeface="Calibri"/>
              </a:rPr>
              <a:t>Every action the agent takes is traced and stored locally, always on — the record outlives the chat window.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2468880"/>
            <a:ext cx="3383280" cy="21945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400" b="1">
                <a:solidFill>
                  <a:srgbClr val="EAE8F2"/>
                </a:solidFill>
                <a:latin typeface="Consolas"/>
              </a:rPr>
              <a:t>Shared context, not one machine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8D90A6"/>
                </a:solidFill>
                <a:latin typeface="Calibri"/>
              </a:rPr>
              <a:t>The long-term bet: that memory shouldn't stop at one person's laptop when the work never did.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PRODUCT TODAY — SHIPPED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0" i="0">
                <a:solidFill>
                  <a:srgbClr val="EAE8F2"/>
                </a:solidFill>
                <a:latin typeface="Georgia"/>
              </a:rPr>
              <a:t>A VS Code fork with a real engineer inside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2724912" cy="16916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EAE8F2"/>
                </a:solidFill>
                <a:latin typeface="Consolas"/>
              </a:rPr>
              <a:t>Royal Mode 2.0</a:t>
            </a:r>
            <a:r>
              <a:rPr sz="800">
                <a:solidFill>
                  <a:srgbClr val="57D9A3"/>
                </a:solidFill>
                <a:latin typeface="Consolas"/>
              </a:rPr>
              <a:t>   SHIPPED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D90A6"/>
                </a:solidFill>
                <a:latin typeface="Calibri"/>
              </a:rPr>
              <a:t>Plans, executes, and verifies its own work through a gated phase machine.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47872" y="1965960"/>
            <a:ext cx="2724912" cy="16916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EAE8F2"/>
                </a:solidFill>
                <a:latin typeface="Consolas"/>
              </a:rPr>
              <a:t>Background subagents</a:t>
            </a:r>
            <a:r>
              <a:rPr sz="800">
                <a:solidFill>
                  <a:srgbClr val="57D9A3"/>
                </a:solidFill>
                <a:latin typeface="Consolas"/>
              </a:rPr>
              <a:t>   SHIPPED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D90A6"/>
                </a:solidFill>
                <a:latin typeface="Calibri"/>
              </a:rPr>
              <a:t>Dispatches and monitors parallel work without blocking the main session.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64224" y="1965960"/>
            <a:ext cx="2724912" cy="16916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EAE8F2"/>
                </a:solidFill>
                <a:latin typeface="Consolas"/>
              </a:rPr>
              <a:t>Local trace store</a:t>
            </a:r>
            <a:r>
              <a:rPr sz="800">
                <a:solidFill>
                  <a:srgbClr val="57D9A3"/>
                </a:solidFill>
                <a:latin typeface="Consolas"/>
              </a:rPr>
              <a:t>   SHIPPED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D90A6"/>
                </a:solidFill>
                <a:latin typeface="Calibri"/>
              </a:rPr>
              <a:t>Every agent action recorded locally and always 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80576" y="1965960"/>
            <a:ext cx="2724912" cy="16916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EAE8F2"/>
                </a:solidFill>
                <a:latin typeface="Consolas"/>
              </a:rPr>
              <a:t>Bring-your-own-model</a:t>
            </a:r>
            <a:r>
              <a:rPr sz="800">
                <a:solidFill>
                  <a:srgbClr val="57D9A3"/>
                </a:solidFill>
                <a:latin typeface="Consolas"/>
              </a:rPr>
              <a:t>   SHIPPED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D90A6"/>
                </a:solidFill>
                <a:latin typeface="Calibri"/>
              </a:rPr>
              <a:t>Plug in any provider — nothing locked to one vendor's API.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94760"/>
            <a:ext cx="2724912" cy="16916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EAE8F2"/>
                </a:solidFill>
                <a:latin typeface="Consolas"/>
              </a:rPr>
              <a:t>Structural search &amp; secrets scan</a:t>
            </a:r>
            <a:r>
              <a:rPr sz="800">
                <a:solidFill>
                  <a:srgbClr val="57D9A3"/>
                </a:solidFill>
                <a:latin typeface="Consolas"/>
              </a:rPr>
              <a:t>   SHIPPED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D90A6"/>
                </a:solidFill>
                <a:latin typeface="Calibri"/>
              </a:rPr>
              <a:t>AST-aware find/replace and SAST-lite checks built into the editor.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47872" y="3794760"/>
            <a:ext cx="2724912" cy="16916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EAE8F2"/>
                </a:solidFill>
                <a:latin typeface="Consolas"/>
              </a:rPr>
              <a:t>Dependency &amp; call graph</a:t>
            </a:r>
            <a:r>
              <a:rPr sz="800">
                <a:solidFill>
                  <a:srgbClr val="57D9A3"/>
                </a:solidFill>
                <a:latin typeface="Consolas"/>
              </a:rPr>
              <a:t>   SHIPPED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D90A6"/>
                </a:solidFill>
                <a:latin typeface="Calibri"/>
              </a:rPr>
              <a:t>A guided tour of any unfamiliar codebase, generated automatically.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64224" y="3794760"/>
            <a:ext cx="2724912" cy="16916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EAE8F2"/>
                </a:solidFill>
                <a:latin typeface="Consolas"/>
              </a:rPr>
              <a:t>Voice mode</a:t>
            </a:r>
            <a:r>
              <a:rPr sz="800">
                <a:solidFill>
                  <a:srgbClr val="57D9A3"/>
                </a:solidFill>
                <a:latin typeface="Consolas"/>
              </a:rPr>
              <a:t>   SHIPPED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D90A6"/>
                </a:solidFill>
                <a:latin typeface="Calibri"/>
              </a:rPr>
              <a:t>Offline, local speech-to-text push-to-talk dictation.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80576" y="3794760"/>
            <a:ext cx="2724912" cy="16916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EAE8F2"/>
                </a:solidFill>
                <a:latin typeface="Consolas"/>
              </a:rPr>
              <a:t>Remote access</a:t>
            </a:r>
            <a:r>
              <a:rPr sz="800">
                <a:solidFill>
                  <a:srgbClr val="57D9A3"/>
                </a:solidFill>
                <a:latin typeface="Consolas"/>
              </a:rPr>
              <a:t>   SHIPPED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D90A6"/>
                </a:solidFill>
                <a:latin typeface="Calibri"/>
              </a:rPr>
              <a:t>Pair a phone over WiFi to watch and steer a running session.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HOW IT EARNS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200" b="0" i="0">
                <a:solidFill>
                  <a:srgbClr val="EAE8F2"/>
                </a:solidFill>
                <a:latin typeface="Georgia"/>
              </a:rPr>
              <a:t>The agent can't just </a:t>
            </a:r>
            <a:r>
              <a:rPr sz="3200" b="0" i="1">
                <a:solidFill>
                  <a:srgbClr val="9D7FFF"/>
                </a:solidFill>
                <a:latin typeface="Georgia"/>
              </a:rPr>
              <a:t>say</a:t>
            </a:r>
            <a:r>
              <a:rPr sz="3200" b="0" i="0">
                <a:solidFill>
                  <a:srgbClr val="EAE8F2"/>
                </a:solidFill>
                <a:latin typeface="Georgia"/>
              </a:rPr>
              <a:t> it's done.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06040"/>
            <a:ext cx="1097280" cy="502920"/>
          </a:xfrm>
          <a:prstGeom prst="roundRect">
            <a:avLst>
              <a:gd name="adj" fmla="val 15000"/>
            </a:avLst>
          </a:prstGeom>
          <a:solidFill>
            <a:srgbClr val="14161D"/>
          </a:solidFill>
          <a:ln w="12700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>
                <a:solidFill>
                  <a:srgbClr val="EAE8F2"/>
                </a:solidFill>
                <a:latin typeface="Consolas"/>
              </a:rPr>
              <a:t>INTAKE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6232" y="2606040"/>
            <a:ext cx="274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B5E70"/>
                </a:solidFill>
                <a:latin typeface="Calibr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48840" y="2606040"/>
            <a:ext cx="1554480" cy="502920"/>
          </a:xfrm>
          <a:prstGeom prst="roundRect">
            <a:avLst>
              <a:gd name="adj" fmla="val 15000"/>
            </a:avLst>
          </a:prstGeom>
          <a:solidFill>
            <a:srgbClr val="14161D"/>
          </a:solidFill>
          <a:ln w="12700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>
                <a:solidFill>
                  <a:srgbClr val="EAE8F2"/>
                </a:solidFill>
                <a:latin typeface="Consolas"/>
              </a:rPr>
              <a:t>RECON +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30752" y="2606040"/>
            <a:ext cx="274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B5E70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0" y="2606040"/>
            <a:ext cx="1188720" cy="502920"/>
          </a:xfrm>
          <a:prstGeom prst="roundRect">
            <a:avLst>
              <a:gd name="adj" fmla="val 15000"/>
            </a:avLst>
          </a:prstGeom>
          <a:solidFill>
            <a:srgbClr val="14161D"/>
          </a:solidFill>
          <a:ln w="12700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>
                <a:solidFill>
                  <a:srgbClr val="EAE8F2"/>
                </a:solidFill>
                <a:latin typeface="Consolas"/>
              </a:rPr>
              <a:t>EXECUTE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9512" y="2606040"/>
            <a:ext cx="274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B5E70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32120" y="2606040"/>
            <a:ext cx="1097280" cy="502920"/>
          </a:xfrm>
          <a:prstGeom prst="roundRect">
            <a:avLst>
              <a:gd name="adj" fmla="val 15000"/>
            </a:avLst>
          </a:prstGeom>
          <a:solidFill>
            <a:srgbClr val="14161D"/>
          </a:solidFill>
          <a:ln w="12700">
            <a:solidFill>
              <a:srgbClr val="9D7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>
                <a:solidFill>
                  <a:srgbClr val="EAE8F2"/>
                </a:solidFill>
                <a:latin typeface="Consolas"/>
              </a:rPr>
              <a:t>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6832" y="2606040"/>
            <a:ext cx="274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B5E70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2606040"/>
            <a:ext cx="1005840" cy="502920"/>
          </a:xfrm>
          <a:prstGeom prst="roundRect">
            <a:avLst>
              <a:gd name="adj" fmla="val 15000"/>
            </a:avLst>
          </a:prstGeom>
          <a:solidFill>
            <a:srgbClr val="162A24"/>
          </a:solidFill>
          <a:ln w="12700">
            <a:solidFill>
              <a:srgbClr val="57D9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>
                <a:solidFill>
                  <a:srgbClr val="57D9A3"/>
                </a:solidFill>
                <a:latin typeface="Consolas"/>
              </a:rPr>
              <a:t>DONE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29000"/>
            <a:ext cx="4937760" cy="502920"/>
          </a:xfrm>
          <a:prstGeom prst="roundRect">
            <a:avLst>
              <a:gd name="adj" fmla="val 15000"/>
            </a:avLst>
          </a:prstGeom>
          <a:solidFill>
            <a:srgbClr val="2C2214"/>
          </a:solidFill>
          <a:ln w="9525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>
                <a:solidFill>
                  <a:srgbClr val="FFB454"/>
                </a:solidFill>
                <a:latin typeface="Consolas"/>
              </a:rPr>
              <a:t>VERIFY fails → FIX (≤ 2 rounds) → back to EXECUTE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3429000"/>
            <a:ext cx="5486400" cy="502920"/>
          </a:xfrm>
          <a:prstGeom prst="roundRect">
            <a:avLst>
              <a:gd name="adj" fmla="val 15000"/>
            </a:avLst>
          </a:prstGeom>
          <a:solidFill>
            <a:srgbClr val="2C2214"/>
          </a:solidFill>
          <a:ln w="9525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>
                <a:solidFill>
                  <a:srgbClr val="FFB454"/>
                </a:solidFill>
                <a:latin typeface="Consolas"/>
              </a:rPr>
              <a:t>Still wrong → REWIND (≤ 2 re-entries) → back to 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9768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8D90A6"/>
                </a:solidFill>
                <a:latin typeface="Calibri"/>
              </a:rPr>
              <a:t>VERIFY re-runs a real, hash-frozen spec set before the plan was even executed — the model cannot quietly redefine “done” partway through a task. If it can't pass, it doesn't get to stop.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WHY NOT JUST CURSOR / COPILOT / WINDSURF?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0" i="0">
                <a:solidFill>
                  <a:srgbClr val="EAE8F2"/>
                </a:solidFill>
                <a:latin typeface="Georgia"/>
              </a:rPr>
              <a:t>They optimize the </a:t>
            </a:r>
            <a:r>
              <a:rPr sz="2700" b="0" i="1">
                <a:solidFill>
                  <a:srgbClr val="9D7FFF"/>
                </a:solidFill>
                <a:latin typeface="Georgia"/>
              </a:rPr>
              <a:t>typing.</a:t>
            </a:r>
            <a:r>
              <a:rPr sz="2700" b="0" i="0">
                <a:solidFill>
                  <a:srgbClr val="EAE8F2"/>
                </a:solidFill>
                <a:latin typeface="Georgia"/>
              </a:rPr>
              <a:t> We're building the </a:t>
            </a:r>
            <a:r>
              <a:rPr sz="2700" b="0" i="1">
                <a:solidFill>
                  <a:srgbClr val="9D7FFF"/>
                </a:solidFill>
                <a:latin typeface="Georgia"/>
              </a:rPr>
              <a:t>trust layer</a:t>
            </a:r>
            <a:r>
              <a:rPr sz="2700" b="0" i="0">
                <a:solidFill>
                  <a:srgbClr val="EAE8F2"/>
                </a:solidFill>
                <a:latin typeface="Georgia"/>
              </a:rPr>
              <a:t> underneath it.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60604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3200400"/>
                <a:gridCol w="3200400"/>
              </a:tblGrid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B5E70"/>
                          </a:solidFill>
                          <a:latin typeface="Consolas"/>
                        </a:rPr>
                        <a:t/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B5E70"/>
                          </a:solidFill>
                          <a:latin typeface="Consolas"/>
                        </a:rPr>
                        <a:t>Typical AI IDE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B5E70"/>
                          </a:solidFill>
                          <a:latin typeface="Consolas"/>
                        </a:rPr>
                        <a:t>LakshX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AE8F2"/>
                          </a:solidFill>
                          <a:latin typeface="Calibri"/>
                        </a:rPr>
                        <a:t>Memory survives the session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B5E70"/>
                          </a:solidFill>
                          <a:latin typeface="Consolas"/>
                        </a:rPr>
                        <a:t>— session only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7D9A3"/>
                          </a:solidFill>
                          <a:latin typeface="Consolas"/>
                        </a:rPr>
                        <a:t>✓ persistent, local</a:t>
                      </a:r>
                    </a:p>
                  </a:txBody>
                  <a:tcPr marL="109728" marT="54864" marB="54864">
                    <a:solidFill>
                      <a:srgbClr val="1D16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AE8F2"/>
                          </a:solidFill>
                          <a:latin typeface="Calibri"/>
                        </a:rPr>
                        <a:t>Independently verifies “done”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B5E70"/>
                          </a:solidFill>
                          <a:latin typeface="Consolas"/>
                        </a:rPr>
                        <a:t>— self-reported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7D9A3"/>
                          </a:solidFill>
                          <a:latin typeface="Consolas"/>
                        </a:rPr>
                        <a:t>✓ hash-frozen spec re-run</a:t>
                      </a:r>
                    </a:p>
                  </a:txBody>
                  <a:tcPr marL="109728" marT="54864" marB="54864">
                    <a:solidFill>
                      <a:srgbClr val="1D16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AE8F2"/>
                          </a:solidFill>
                          <a:latin typeface="Calibri"/>
                        </a:rPr>
                        <a:t>Runs background multi-agent work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B5E70"/>
                          </a:solidFill>
                          <a:latin typeface="Consolas"/>
                        </a:rPr>
                        <a:t>— single-threaded chat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7D9A3"/>
                          </a:solidFill>
                          <a:latin typeface="Consolas"/>
                        </a:rPr>
                        <a:t>✓ dispatch + monitor</a:t>
                      </a:r>
                    </a:p>
                  </a:txBody>
                  <a:tcPr marL="109728" marT="54864" marB="54864">
                    <a:solidFill>
                      <a:srgbClr val="1D16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AE8F2"/>
                          </a:solidFill>
                          <a:latin typeface="Calibri"/>
                        </a:rPr>
                        <a:t>Shares context across teammates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B5E70"/>
                          </a:solidFill>
                          <a:latin typeface="Consolas"/>
                        </a:rPr>
                        <a:t>— isolated per machine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7D9A3"/>
                          </a:solidFill>
                          <a:latin typeface="Consolas"/>
                        </a:rPr>
                        <a:t>→ Agent Brain (roadmap)</a:t>
                      </a:r>
                    </a:p>
                  </a:txBody>
                  <a:tcPr marL="109728" marT="54864" marB="54864">
                    <a:solidFill>
                      <a:srgbClr val="1D16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AE8F2"/>
                          </a:solidFill>
                          <a:latin typeface="Calibri"/>
                        </a:rPr>
                        <a:t>Model-agnostic, local-first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B5E70"/>
                          </a:solidFill>
                          <a:latin typeface="Consolas"/>
                        </a:rPr>
                        <a:t>— one vendor, cloud-only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7D9A3"/>
                          </a:solidFill>
                          <a:latin typeface="Consolas"/>
                        </a:rPr>
                        <a:t>✓ bring your own model</a:t>
                      </a:r>
                    </a:p>
                  </a:txBody>
                  <a:tcPr marL="109728" marT="54864" marB="54864">
                    <a:solidFill>
                      <a:srgbClr val="1D16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B454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FFB454"/>
                </a:solidFill>
                <a:latin typeface="Consolas"/>
              </a:rPr>
              <a:t>THE BIG SWING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98755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600" b="0" i="0">
                <a:solidFill>
                  <a:srgbClr val="EAE8F2"/>
                </a:solidFill>
                <a:latin typeface="Georgia"/>
              </a:rPr>
              <a:t>Every agent today is isolated — to one employee, on one machine, inside one project folder.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8D90A6"/>
                </a:solidFill>
                <a:latin typeface="Georgia"/>
              </a:rPr>
              <a:t>Real engineering isn't done by one person. Why is the agent?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B454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FFB454"/>
                </a:solidFill>
                <a:latin typeface="Consolas"/>
              </a:rPr>
              <a:t>A CLIENT PROJECT, FIVE ENGINEERS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0" i="0">
                <a:solidFill>
                  <a:srgbClr val="EAE8F2"/>
                </a:solidFill>
                <a:latin typeface="Georgia"/>
              </a:rPr>
              <a:t>One team, five modules, five agents that have never met.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6400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100">
                <a:solidFill>
                  <a:srgbClr val="9D7FFF"/>
                </a:solidFill>
                <a:latin typeface="Consolas"/>
              </a:rPr>
              <a:t>AUTH DEV  </a:t>
            </a:r>
            <a:r>
              <a:rPr sz="1350">
                <a:solidFill>
                  <a:srgbClr val="EAE8F2"/>
                </a:solidFill>
                <a:latin typeface="Calibri"/>
              </a:rPr>
              <a:t>renames a token field — their agent knows, nobody else's does.</a:t>
            </a:r>
          </a:p>
          <a:p>
            <a:pPr>
              <a:spcAft>
                <a:spcPts val="1600"/>
              </a:spcAft>
            </a:pPr>
            <a:r>
              <a:rPr sz="1100">
                <a:solidFill>
                  <a:srgbClr val="9D7FFF"/>
                </a:solidFill>
                <a:latin typeface="Consolas"/>
              </a:rPr>
              <a:t>API DEV  </a:t>
            </a:r>
            <a:r>
              <a:rPr sz="1350">
                <a:solidFill>
                  <a:srgbClr val="EAE8F2"/>
                </a:solidFill>
                <a:latin typeface="Calibri"/>
              </a:rPr>
              <a:t>ships an integration against the old field name — breaks silently in staging, three days later.</a:t>
            </a:r>
          </a:p>
          <a:p>
            <a:pPr>
              <a:spcAft>
                <a:spcPts val="1600"/>
              </a:spcAft>
            </a:pPr>
            <a:r>
              <a:rPr sz="1100">
                <a:solidFill>
                  <a:srgbClr val="9D7FFF"/>
                </a:solidFill>
                <a:latin typeface="Consolas"/>
              </a:rPr>
              <a:t>QA ENGINEER  </a:t>
            </a:r>
            <a:r>
              <a:rPr sz="1350">
                <a:solidFill>
                  <a:srgbClr val="EAE8F2"/>
                </a:solidFill>
                <a:latin typeface="Calibri"/>
              </a:rPr>
              <a:t>files the bug. Her agent starts debugging from zero — no idea Tuesday's change happened.</a:t>
            </a:r>
          </a:p>
          <a:p>
            <a:pPr>
              <a:spcAft>
                <a:spcPts val="1600"/>
              </a:spcAft>
            </a:pPr>
            <a:r>
              <a:rPr sz="1100">
                <a:solidFill>
                  <a:srgbClr val="9D7FFF"/>
                </a:solidFill>
                <a:latin typeface="Consolas"/>
              </a:rPr>
              <a:t>NEW HIRE  </a:t>
            </a:r>
            <a:r>
              <a:rPr sz="1350">
                <a:solidFill>
                  <a:srgbClr val="EAE8F2"/>
                </a:solidFill>
                <a:latin typeface="Calibri"/>
              </a:rPr>
              <a:t>joins mid-project, re-briefed by humans on decisions five agents already individually “knew.”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2103120"/>
            <a:ext cx="1417320" cy="384048"/>
          </a:xfrm>
          <a:prstGeom prst="roundRect">
            <a:avLst>
              <a:gd name="adj" fmla="val 200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>
                <a:solidFill>
                  <a:srgbClr val="8D90A6"/>
                </a:solidFill>
                <a:latin typeface="Consolas"/>
              </a:rPr>
              <a:t>auth ·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2670048"/>
            <a:ext cx="1417320" cy="384048"/>
          </a:xfrm>
          <a:prstGeom prst="roundRect">
            <a:avLst>
              <a:gd name="adj" fmla="val 200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>
                <a:solidFill>
                  <a:srgbClr val="8D90A6"/>
                </a:solidFill>
                <a:latin typeface="Consolas"/>
              </a:rPr>
              <a:t>api ·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236976"/>
            <a:ext cx="1417320" cy="384048"/>
          </a:xfrm>
          <a:prstGeom prst="roundRect">
            <a:avLst>
              <a:gd name="adj" fmla="val 200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>
                <a:solidFill>
                  <a:srgbClr val="8D90A6"/>
                </a:solidFill>
                <a:latin typeface="Consolas"/>
              </a:rPr>
              <a:t>frontend ·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3803904"/>
            <a:ext cx="1417320" cy="384048"/>
          </a:xfrm>
          <a:prstGeom prst="roundRect">
            <a:avLst>
              <a:gd name="adj" fmla="val 200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>
                <a:solidFill>
                  <a:srgbClr val="8D90A6"/>
                </a:solidFill>
                <a:latin typeface="Consolas"/>
              </a:rPr>
              <a:t>infra · 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4370832"/>
            <a:ext cx="1417320" cy="384048"/>
          </a:xfrm>
          <a:prstGeom prst="roundRect">
            <a:avLst>
              <a:gd name="adj" fmla="val 200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>
                <a:solidFill>
                  <a:srgbClr val="8D90A6"/>
                </a:solidFill>
                <a:latin typeface="Consolas"/>
              </a:rPr>
              <a:t>qa ·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3291840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9D7FFF"/>
                </a:solidFill>
                <a:latin typeface="Calibri"/>
              </a:rPr>
              <a:t>→</a:t>
            </a:r>
          </a:p>
        </p:txBody>
      </p:sp>
      <p:sp>
        <p:nvSpPr>
          <p:cNvPr id="12" name="Oval 11"/>
          <p:cNvSpPr/>
          <p:nvPr/>
        </p:nvSpPr>
        <p:spPr>
          <a:xfrm>
            <a:off x="9692640" y="2606040"/>
            <a:ext cx="1371600" cy="1371600"/>
          </a:xfrm>
          <a:prstGeom prst="ellipse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0A0B0F"/>
                </a:solidFill>
                <a:latin typeface="Consolas"/>
              </a:rPr>
              <a:t>shared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6692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8D90A6"/>
                </a:solidFill>
                <a:latin typeface="Calibri"/>
              </a:rPr>
              <a:t>One shared Agent Brain per project. Any teammate's agent can ask “has anyone touched this, and why?” and get a real, current answer.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B454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FFB454"/>
                </a:solidFill>
                <a:latin typeface="Consolas"/>
              </a:rPr>
              <a:t>THIS PATTERN IS EVERYWHERE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0" i="0">
                <a:solidFill>
                  <a:srgbClr val="EAE8F2"/>
                </a:solidFill>
                <a:latin typeface="Georgia"/>
              </a:rPr>
              <a:t>The five-person team is one example. It's not the only 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31750" cy="1828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AE8F2"/>
                </a:solidFill>
                <a:latin typeface="Consolas"/>
              </a:rPr>
              <a:t>Agencies with rotating developers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8D90A6"/>
                </a:solidFill>
                <a:latin typeface="Calibri"/>
              </a:rPr>
              <a:t>A contractor rolls off a client project after two months — everything their agent learned evaporates with them. Agent Brain persists at the project level, not the person level.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2011680"/>
            <a:ext cx="31750" cy="1828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AE8F2"/>
                </a:solidFill>
                <a:latin typeface="Consolas"/>
              </a:rPr>
              <a:t>2 a.m. incident response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8D90A6"/>
                </a:solidFill>
                <a:latin typeface="Calibri"/>
              </a:rPr>
              <a:t>Whoever's on call starts cold. If this exact failure was already root-caused six weeks ago by a different agent, the Brain says so — and cuts time-to-resolution.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206240"/>
            <a:ext cx="31750" cy="1828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AE8F2"/>
                </a:solidFill>
                <a:latin typeface="Consolas"/>
              </a:rPr>
              <a:t>Regulated industries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8D90A6"/>
                </a:solidFill>
                <a:latin typeface="Calibri"/>
              </a:rPr>
              <a:t>Fintech and healthcare need a provable record of what changed, why, and how it was verified. The verification + trace infrastructure already produces exactly that.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4206240"/>
            <a:ext cx="31750" cy="1828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2062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AE8F2"/>
                </a:solidFill>
                <a:latin typeface="Consolas"/>
              </a:rPr>
              <a:t>Distributed, cross-timezone teams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8D90A6"/>
                </a:solidFill>
                <a:latin typeface="Calibri"/>
              </a:rPr>
              <a:t>A handoff today is a Slack message or a stale doc. With a shared Brain, the next timezone's agent already has full context on what happened eight hours ago.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THE BUSINESS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0" i="0">
                <a:solidFill>
                  <a:srgbClr val="EAE8F2"/>
                </a:solidFill>
                <a:latin typeface="Georgia"/>
              </a:rPr>
              <a:t>Companies already pay for coordination. We reduce the bill instead of ignoring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150">
                <a:solidFill>
                  <a:srgbClr val="9D7FFF"/>
                </a:solidFill>
                <a:latin typeface="Consolas"/>
              </a:rPr>
              <a:t>ALREADY BUDGETED   </a:t>
            </a:r>
            <a:r>
              <a:rPr sz="1400">
                <a:solidFill>
                  <a:srgbClr val="EAE8F2"/>
                </a:solidFill>
                <a:latin typeface="Calibri"/>
              </a:rPr>
              <a:t>Standups, sprint planning, code-review context-gathering, onboarding docs, tribal-knowledge risk on attrition — all real, existing line items on an engineering leader's budget.</a:t>
            </a:r>
          </a:p>
          <a:p>
            <a:pPr>
              <a:spcAft>
                <a:spcPts val="1600"/>
              </a:spcAft>
            </a:pPr>
            <a:r>
              <a:rPr sz="1150">
                <a:solidFill>
                  <a:srgbClr val="9D7FFF"/>
                </a:solidFill>
                <a:latin typeface="Consolas"/>
              </a:rPr>
              <a:t>COMPLIANCE ANGLE   </a:t>
            </a:r>
            <a:r>
              <a:rPr sz="1400">
                <a:solidFill>
                  <a:srgbClr val="EAE8F2"/>
                </a:solidFill>
                <a:latin typeface="Calibri"/>
              </a:rPr>
              <a:t>Verification + trace infrastructure, already shipped, turns “an AI agent wrote this” from a liability into a searchable, provable audit trail.</a:t>
            </a:r>
          </a:p>
          <a:p>
            <a:pPr>
              <a:spcAft>
                <a:spcPts val="1600"/>
              </a:spcAft>
            </a:pPr>
            <a:r>
              <a:rPr sz="1150">
                <a:solidFill>
                  <a:srgbClr val="9D7FFF"/>
                </a:solidFill>
                <a:latin typeface="Consolas"/>
              </a:rPr>
              <a:t>WHO BUYS   </a:t>
            </a:r>
            <a:r>
              <a:rPr sz="1400">
                <a:solidFill>
                  <a:srgbClr val="EAE8F2"/>
                </a:solidFill>
                <a:latin typeface="Calibri"/>
              </a:rPr>
              <a:t>This sells to a VP Eng or CTO for the whole team — not one developer's individual seat. Bigger contract, stickier, less churn.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NOT A PIVOT — AN EXTENSION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500" b="0" i="0">
                <a:solidFill>
                  <a:srgbClr val="EAE8F2"/>
                </a:solidFill>
                <a:latin typeface="Georgia"/>
              </a:rPr>
              <a:t>The hard infrastructure is already built. Agent Brain is what happens when we open it 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57D9A3"/>
                </a:solidFill>
                <a:latin typeface="Consolas"/>
              </a:rPr>
              <a:t>SHIPPED, SOLO
</a:t>
            </a:r>
          </a:p>
          <a:p>
            <a:r>
              <a:rPr sz="1400">
                <a:solidFill>
                  <a:srgbClr val="EAE8F2"/>
                </a:solidFill>
                <a:latin typeface="Calibri"/>
              </a:rPr>
              <a:t>Local trace 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78892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9D7FFF"/>
                </a:solidFill>
                <a:latin typeface="Calibri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65176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FFB454"/>
                </a:solidFill>
                <a:latin typeface="Consolas"/>
              </a:rPr>
              <a:t>TEAM-SCALE
</a:t>
            </a:r>
          </a:p>
          <a:p>
            <a:r>
              <a:rPr sz="1400">
                <a:solidFill>
                  <a:srgbClr val="EAE8F2"/>
                </a:solidFill>
                <a:latin typeface="Calibri"/>
              </a:rPr>
              <a:t>Shared, project-level trace index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862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57D9A3"/>
                </a:solidFill>
                <a:latin typeface="Consolas"/>
              </a:rPr>
              <a:t>SHIPPED, SOLO
</a:t>
            </a:r>
          </a:p>
          <a:p>
            <a:r>
              <a:rPr sz="1400">
                <a:solidFill>
                  <a:srgbClr val="EAE8F2"/>
                </a:solidFill>
                <a:latin typeface="Calibri"/>
              </a:rPr>
              <a:t>Background subagent registry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402336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9D7FFF"/>
                </a:solidFill>
                <a:latin typeface="Calibr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8862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FFB454"/>
                </a:solidFill>
                <a:latin typeface="Consolas"/>
              </a:rPr>
              <a:t>TEAM-SCALE
</a:t>
            </a:r>
          </a:p>
          <a:p>
            <a:r>
              <a:rPr sz="1400">
                <a:solidFill>
                  <a:srgbClr val="EAE8F2"/>
                </a:solidFill>
                <a:latin typeface="Calibri"/>
              </a:rPr>
              <a:t>Cross-person task registry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206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57D9A3"/>
                </a:solidFill>
                <a:latin typeface="Consolas"/>
              </a:rPr>
              <a:t>SHIPPED, SOLO
</a:t>
            </a:r>
          </a:p>
          <a:p>
            <a:r>
              <a:rPr sz="1400">
                <a:solidFill>
                  <a:srgbClr val="EAE8F2"/>
                </a:solidFill>
                <a:latin typeface="Calibri"/>
              </a:rPr>
              <a:t>Hash-frozen verification spec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52578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9D7FFF"/>
                </a:solidFill>
                <a:latin typeface="Calibr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512064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FFB454"/>
                </a:solidFill>
                <a:latin typeface="Consolas"/>
              </a:rPr>
              <a:t>TEAM-SCALE
</a:t>
            </a:r>
          </a:p>
          <a:p>
            <a:r>
              <a:rPr sz="1400">
                <a:solidFill>
                  <a:srgbClr val="EAE8F2"/>
                </a:solidFill>
                <a:latin typeface="Calibri"/>
              </a:rPr>
              <a:t>Shared, team-wide “definition of done” per module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WHY WE CAN BUILD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0" i="0">
                <a:solidFill>
                  <a:srgbClr val="EAE8F2"/>
                </a:solidFill>
                <a:latin typeface="Georgia"/>
              </a:rPr>
              <a:t>We didn't start with the vision slide. We started with the infrastructure it needs.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3383280" cy="21945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350" b="1">
                <a:solidFill>
                  <a:srgbClr val="EAE8F2"/>
                </a:solidFill>
                <a:latin typeface="Consolas"/>
              </a:rPr>
              <a:t>A shipped verification engine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8D90A6"/>
                </a:solidFill>
                <a:latin typeface="Calibri"/>
              </a:rPr>
              <a:t>Not a plan for one — running, tested, hash-frozen specs re-run against real process exit codes today.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2743200"/>
            <a:ext cx="3383280" cy="21945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350" b="1">
                <a:solidFill>
                  <a:srgbClr val="EAE8F2"/>
                </a:solidFill>
                <a:latin typeface="Consolas"/>
              </a:rPr>
              <a:t>Shipped multi-agent orchestration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8D90A6"/>
                </a:solidFill>
                <a:latin typeface="Calibri"/>
              </a:rPr>
              <a:t>Dispatching and monitoring parallel background work is the exact substrate a multiplayer Brain needs.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2743200"/>
            <a:ext cx="3383280" cy="21945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350" b="1">
                <a:solidFill>
                  <a:srgbClr val="EAE8F2"/>
                </a:solidFill>
                <a:latin typeface="Consolas"/>
              </a:rPr>
              <a:t>Shipped structured, persistent traces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8D90A6"/>
                </a:solidFill>
                <a:latin typeface="Calibri"/>
              </a:rPr>
              <a:t>The exact substrate shared memory needs — we just haven't opened it past one machine yet.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HOW THIS MAKES MONEY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0" i="0">
                <a:solidFill>
                  <a:srgbClr val="EAE8F2"/>
                </a:solidFill>
                <a:latin typeface="Georgia"/>
              </a:rPr>
              <a:t>Two tiers. Value scales with team size, not just seat count.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5212080" cy="26517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700" b="1">
                <a:solidFill>
                  <a:srgbClr val="EAE8F2"/>
                </a:solidFill>
                <a:latin typeface="Consolas"/>
              </a:rPr>
              <a:t>Individual</a:t>
            </a:r>
            <a:r>
              <a:rPr sz="800">
                <a:solidFill>
                  <a:srgbClr val="57D9A3"/>
                </a:solidFill>
                <a:latin typeface="Consolas"/>
              </a:rPr>
              <a:t>   LIVE TODAY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8D90A6"/>
                </a:solidFill>
                <a:latin typeface="Calibri"/>
              </a:rPr>
              <a:t>Seat-based. Bring your own model, run locally, keep every feature on this deck. The prototype you can install right now.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2468880"/>
            <a:ext cx="5212080" cy="26517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700" b="1">
                <a:solidFill>
                  <a:srgbClr val="EAE8F2"/>
                </a:solidFill>
                <a:latin typeface="Consolas"/>
              </a:rPr>
              <a:t>Team Agent Brain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8D90A6"/>
                </a:solidFill>
                <a:latin typeface="Calibri"/>
              </a:rPr>
              <a:t>Org-wide. Priced on team/project, not per head — the more people share one project's Brain, the more value it returns. Natural expansion revenue as teams grow.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2542032"/>
            <a:ext cx="1344168" cy="292608"/>
          </a:xfrm>
          <a:prstGeom prst="roundRect">
            <a:avLst>
              <a:gd name="adj" fmla="val 50000"/>
            </a:avLst>
          </a:prstGeom>
          <a:solidFill>
            <a:srgbClr val="2C2214"/>
          </a:solidFill>
          <a:ln w="9525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900">
                <a:solidFill>
                  <a:srgbClr val="FFB454"/>
                </a:solidFill>
                <a:latin typeface="Consolas"/>
              </a:rPr>
              <a:t>ROADMAP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0" i="0">
                <a:solidFill>
                  <a:srgbClr val="EAE8F2"/>
                </a:solidFill>
                <a:latin typeface="Georgia"/>
              </a:rPr>
              <a:t>Prototype. Ideation phase for the enterprise layer. Exactly where we say we are.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834640"/>
            <a:ext cx="1920240" cy="548640"/>
          </a:xfrm>
          <a:prstGeom prst="roundRect">
            <a:avLst>
              <a:gd name="adj" fmla="val 12000"/>
            </a:avLst>
          </a:prstGeom>
          <a:solidFill>
            <a:srgbClr val="162A24"/>
          </a:solidFill>
          <a:ln w="12700">
            <a:solidFill>
              <a:srgbClr val="57D9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57D9A3"/>
                </a:solidFill>
                <a:latin typeface="Consolas"/>
              </a:rPr>
              <a:t>PROTOTYPE — SHIPPED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70048" y="2834640"/>
            <a:ext cx="23774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5B5E70"/>
                </a:solidFill>
                <a:latin typeface="Calibr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2834640"/>
            <a:ext cx="3200400" cy="548640"/>
          </a:xfrm>
          <a:prstGeom prst="roundRect">
            <a:avLst>
              <a:gd name="adj" fmla="val 12000"/>
            </a:avLst>
          </a:prstGeom>
          <a:solidFill>
            <a:srgbClr val="14161D"/>
          </a:solidFill>
          <a:ln w="12700">
            <a:solidFill>
              <a:srgbClr val="9D7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EAE8F2"/>
                </a:solidFill>
                <a:latin typeface="Consolas"/>
              </a:rPr>
              <a:t>DESIGNING THE SHARED-CONTEXT PROTOCOL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44768" y="2834640"/>
            <a:ext cx="23774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5B5E70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834640"/>
            <a:ext cx="1554480" cy="548640"/>
          </a:xfrm>
          <a:prstGeom prst="roundRect">
            <a:avLst>
              <a:gd name="adj" fmla="val 12000"/>
            </a:avLst>
          </a:prstGeom>
          <a:solidFill>
            <a:srgbClr val="14161D"/>
          </a:solidFill>
          <a:ln w="12700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EAE8F2"/>
                </a:solidFill>
                <a:latin typeface="Consolas"/>
              </a:rPr>
              <a:t>TEAM 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73568" y="2834640"/>
            <a:ext cx="23774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5B5E70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834640"/>
            <a:ext cx="2286000" cy="548640"/>
          </a:xfrm>
          <a:prstGeom prst="roundRect">
            <a:avLst>
              <a:gd name="adj" fmla="val 12000"/>
            </a:avLst>
          </a:prstGeom>
          <a:solidFill>
            <a:srgbClr val="14161D"/>
          </a:solidFill>
          <a:ln w="12700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EAE8F2"/>
                </a:solidFill>
                <a:latin typeface="Consolas"/>
              </a:rPr>
              <a:t>GENERAL AVAILABILITY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8D90A6"/>
                </a:solidFill>
                <a:latin typeface="Calibri"/>
              </a:rPr>
              <a:t>No overclaiming: the single-player product on slide 4 is real and running. Enterprise Agent Brain is the ideation-stage bet this raise is for.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WHY YC, 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0" i="0">
                <a:solidFill>
                  <a:srgbClr val="EAE8F2"/>
                </a:solidFill>
                <a:latin typeface="Georgia"/>
              </a:rPr>
              <a:t>This deck describes a shipped prototype, not a slide deck of promises — and a swing big enough to be worth chasing.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5212080" cy="26517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400" b="1">
                <a:solidFill>
                  <a:srgbClr val="EAE8F2"/>
                </a:solidFill>
                <a:latin typeface="Consolas"/>
              </a:rPr>
              <a:t>A working prototype, not a pitch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8D90A6"/>
                </a:solidFill>
                <a:latin typeface="Calibri"/>
              </a:rPr>
              <a:t>Royal Mode's gated INTAKE→PLAN→EXECUTE→VERIFY phase machine, background subagents dispatching and monitoring parallel work, and an always-on local trace store are all shipped and running today — built by a small, fast-moving team, not described in a roadmap slide.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743200"/>
            <a:ext cx="5212080" cy="26517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400" b="1">
                <a:solidFill>
                  <a:srgbClr val="EAE8F2"/>
                </a:solidFill>
                <a:latin typeface="Consolas"/>
              </a:rPr>
              <a:t>The big swing YC looks for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8D90A6"/>
                </a:solidFill>
                <a:latin typeface="Calibri"/>
              </a:rPr>
              <a:t>Enterprise Agent Brain — one shared context across an entire engineering team's agents, not one developer's laptop — is the ambitious version of this company. The shipped single-player product is the evidence this team can actually ship toward it, not just describe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235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8D90A6"/>
                </a:solidFill>
                <a:latin typeface="Calibri"/>
              </a:rPr>
              <a:t>We're not asking YC to fund an idea — we're asking YC to help a team that already ships turn a real foundation into the ambitious version of itself.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WHAT WE'RE APPLYING FOR — Y COMBINATOR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400" b="0" i="0">
                <a:solidFill>
                  <a:srgbClr val="EAE8F2"/>
                </a:solidFill>
                <a:latin typeface="Georgia"/>
              </a:rPr>
              <a:t>GTM speed for the product that's already shipping, and the network to make the enterprise bet real.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51760"/>
            <a:ext cx="5212080" cy="26517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350" b="1">
                <a:solidFill>
                  <a:srgbClr val="EAE8F2"/>
                </a:solidFill>
                <a:latin typeface="Consolas"/>
              </a:rPr>
              <a:t>Speed and rigor on GTM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8D90A6"/>
                </a:solidFill>
                <a:latin typeface="Calibri"/>
              </a:rPr>
              <a:t>Turning five design-partner teams into a repeatable enterprise motion — the batch's cadence and pressure-testing is exactly the forcing function for going from “a few teams like it” to a real, sellable motion.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651760"/>
            <a:ext cx="5212080" cy="26517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350" b="1">
                <a:solidFill>
                  <a:srgbClr val="EAE8F2"/>
                </a:solidFill>
                <a:latin typeface="Consolas"/>
              </a:rPr>
              <a:t>Network for the Agent Brain motion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8D90A6"/>
                </a:solidFill>
                <a:latin typeface="Calibri"/>
              </a:rPr>
              <a:t>Warm intros into engineering orgs that already feel this coordination problem, other YC founders solving adjacent multi-agent/coordination problems worth comparing notes with, and the fundraising signal that follows a YC batch — all specific to derisking the enterprise bet.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57784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5B5E70"/>
                </a:solidFill>
                <a:latin typeface="Calibri"/>
              </a:rPr>
              <a:t>Raise amount, equity, and cohort details: fill in before submitting — deliberately left open here.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WHERE THIS GOES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400" b="0" i="0">
                <a:solidFill>
                  <a:srgbClr val="EAE8F2"/>
                </a:solidFill>
                <a:latin typeface="Georgia"/>
              </a:rPr>
              <a:t>From autocomplete. To an autonomous agent. To an engineering team's </a:t>
            </a:r>
            <a:r>
              <a:rPr sz="3400" b="0" i="1">
                <a:solidFill>
                  <a:srgbClr val="9D7FFF"/>
                </a:solidFill>
                <a:latin typeface="Georgia"/>
              </a:rPr>
              <a:t>shared brain.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5E70"/>
                </a:solidFill>
                <a:latin typeface="Consolas"/>
              </a:rPr>
              <a:t>lakshx.in     </a:t>
            </a:r>
            <a:r>
              <a:rPr sz="1000" b="0" i="0">
                <a:solidFill>
                  <a:srgbClr val="5B5E70"/>
                </a:solidFill>
                <a:latin typeface="Consolas"/>
              </a:rPr>
              <a:t>github.com/lakshx-ide/lakshx     </a:t>
            </a:r>
            <a:r>
              <a:rPr sz="1000" b="0" i="0">
                <a:solidFill>
                  <a:srgbClr val="5B5E70"/>
                </a:solidFill>
                <a:latin typeface="Consolas"/>
              </a:rPr>
              <a:t>[ your contact here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